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0" r:id="rId7"/>
    <p:sldId id="271" r:id="rId8"/>
    <p:sldId id="261" r:id="rId9"/>
    <p:sldId id="262" r:id="rId10"/>
    <p:sldId id="272" r:id="rId11"/>
    <p:sldId id="263" r:id="rId12"/>
    <p:sldId id="264" r:id="rId13"/>
    <p:sldId id="273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B4D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41B4D"/>
                </a:solidFill>
                <a:latin typeface="Cambria"/>
              </a:rPr>
              <a:t>Sales by Market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328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APAC</c:v>
                </c:pt>
                <c:pt idx="1">
                  <c:v>EU</c:v>
                </c:pt>
                <c:pt idx="2">
                  <c:v>US</c:v>
                </c:pt>
                <c:pt idx="3">
                  <c:v>LATAM</c:v>
                </c:pt>
                <c:pt idx="4">
                  <c:v>EMEA</c:v>
                </c:pt>
                <c:pt idx="5">
                  <c:v>Africa</c:v>
                </c:pt>
                <c:pt idx="6">
                  <c:v>Canada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3.59</c:v>
                </c:pt>
                <c:pt idx="1">
                  <c:v>2.94</c:v>
                </c:pt>
                <c:pt idx="2">
                  <c:v>2.2999999999999998</c:v>
                </c:pt>
                <c:pt idx="3">
                  <c:v>2.16</c:v>
                </c:pt>
                <c:pt idx="4">
                  <c:v>0.81</c:v>
                </c:pt>
                <c:pt idx="5">
                  <c:v>0.78</c:v>
                </c:pt>
                <c:pt idx="6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93-4C70-B003-CD6E0776B2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28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7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B4D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41B4D"/>
                </a:solidFill>
                <a:latin typeface="Cambria"/>
              </a:rPr>
              <a:t>Category Sales &amp; Profit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328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4.74</c:v>
                </c:pt>
                <c:pt idx="1">
                  <c:v>4.1100000000000003</c:v>
                </c:pt>
                <c:pt idx="2">
                  <c:v>3.79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35-40ED-986B-63A61C5311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Profit ($M)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328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0.66</c:v>
                </c:pt>
                <c:pt idx="1">
                  <c:v>0.28999999999999998</c:v>
                </c:pt>
                <c:pt idx="2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35-40ED-986B-63A61C5311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28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3283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B4D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41B4D"/>
                </a:solidFill>
                <a:latin typeface="Cambria"/>
              </a:rPr>
              <a:t>Top 5 Regions by Sales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328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Central</c:v>
                </c:pt>
                <c:pt idx="1">
                  <c:v>South</c:v>
                </c:pt>
                <c:pt idx="2">
                  <c:v>North</c:v>
                </c:pt>
                <c:pt idx="3">
                  <c:v>Oceania</c:v>
                </c:pt>
                <c:pt idx="4">
                  <c:v>SE Asia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2.82</c:v>
                </c:pt>
                <c:pt idx="1">
                  <c:v>1.6</c:v>
                </c:pt>
                <c:pt idx="2">
                  <c:v>1.25</c:v>
                </c:pt>
                <c:pt idx="3">
                  <c:v>1.1000000000000001</c:v>
                </c:pt>
                <c:pt idx="4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AB-44D3-9C78-B7546DF842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28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7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442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137160" cy="137160"/>
          </a:xfrm>
          <a:prstGeom prst="ellipse">
            <a:avLst/>
          </a:prstGeom>
          <a:solidFill>
            <a:srgbClr val="D4AF3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548640"/>
            <a:ext cx="137160" cy="137160"/>
          </a:xfrm>
          <a:prstGeom prst="ellipse">
            <a:avLst/>
          </a:prstGeom>
          <a:solidFill>
            <a:srgbClr val="D4AF37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548640"/>
            <a:ext cx="137160" cy="137160"/>
          </a:xfrm>
          <a:prstGeom prst="ellipse">
            <a:avLst/>
          </a:prstGeom>
          <a:solidFill>
            <a:srgbClr val="D4AF37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1417320"/>
            <a:ext cx="137160" cy="137160"/>
          </a:xfrm>
          <a:prstGeom prst="ellipse">
            <a:avLst/>
          </a:prstGeom>
          <a:solidFill>
            <a:srgbClr val="D4AF37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646920" y="1417320"/>
            <a:ext cx="137160" cy="137160"/>
          </a:xfrm>
          <a:prstGeom prst="ellipse">
            <a:avLst/>
          </a:prstGeom>
          <a:solidFill>
            <a:srgbClr val="D4AF37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0" y="1417320"/>
            <a:ext cx="137160" cy="137160"/>
          </a:xfrm>
          <a:prstGeom prst="ellipse">
            <a:avLst/>
          </a:prstGeom>
          <a:solidFill>
            <a:srgbClr val="D4AF37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ANALYTICS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Transactions to a Data Warehouse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 3-Dashboard Power BI Story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7731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Warehouse Design  •   SQL Analytics  •  Executive, Product &amp; Customer Intelligence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779698"/>
            <a:ext cx="8229600" cy="803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Osama Medhat , Adham Mohamed , Nada Mostafa ,Habiba Hany</a:t>
            </a:r>
          </a:p>
          <a:p>
            <a:r>
              <a:rPr lang="en-US" sz="115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Dr. </a:t>
            </a:r>
            <a:r>
              <a:rPr lang="en-US" sz="14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Safwat                                          Eng. Dina Mohsen  </a:t>
            </a:r>
            <a:endParaRPr lang="en-US" sz="11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Walk Through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253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36" y="2150120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22585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project, and the questions it answers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120640" y="181965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/>
        </p:spPr>
      </p:sp>
      <p:sp>
        <p:nvSpPr>
          <p:cNvPr id="11" name="Shape 8"/>
          <p:cNvSpPr/>
          <p:nvPr/>
        </p:nvSpPr>
        <p:spPr>
          <a:xfrm>
            <a:off x="6428232" y="20253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icons/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956" y="2150120"/>
            <a:ext cx="317480" cy="317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178040" y="22585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to a clean star schema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0652760" y="181965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3090672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/>
        </p:spPr>
      </p:sp>
      <p:sp>
        <p:nvSpPr>
          <p:cNvPr id="17" name="Shape 13"/>
          <p:cNvSpPr/>
          <p:nvPr/>
        </p:nvSpPr>
        <p:spPr>
          <a:xfrm>
            <a:off x="896112" y="34244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icons/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36" y="3549152"/>
            <a:ext cx="317480" cy="317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3273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45920" y="365760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performance at a glance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120640" y="32186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172200" y="3090672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/>
        </p:spPr>
      </p:sp>
      <p:sp>
        <p:nvSpPr>
          <p:cNvPr id="23" name="Shape 18"/>
          <p:cNvSpPr/>
          <p:nvPr/>
        </p:nvSpPr>
        <p:spPr>
          <a:xfrm>
            <a:off x="6428232" y="34244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home/claude/icons/boxop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2956" y="3549152"/>
            <a:ext cx="317480" cy="317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78040" y="3273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178040" y="365760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product-level profitability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0652760" y="32186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640080" y="4489704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/>
        </p:spPr>
      </p:sp>
      <p:sp>
        <p:nvSpPr>
          <p:cNvPr id="29" name="Shape 23"/>
          <p:cNvSpPr/>
          <p:nvPr/>
        </p:nvSpPr>
        <p:spPr>
          <a:xfrm>
            <a:off x="896112" y="48234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/home/claude/icons/glo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836" y="4948184"/>
            <a:ext cx="317480" cy="317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45920" y="467258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Geography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1645920" y="505663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buys, and where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5120640" y="4617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6172200" y="4489704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/>
        </p:spPr>
      </p:sp>
      <p:sp>
        <p:nvSpPr>
          <p:cNvPr id="35" name="Shape 28"/>
          <p:cNvSpPr/>
          <p:nvPr/>
        </p:nvSpPr>
        <p:spPr>
          <a:xfrm>
            <a:off x="6428232" y="48234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5" descr="/home/claude/icons/lightbu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2956" y="4948184"/>
            <a:ext cx="317480" cy="3174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178040" y="467258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&amp; Recommendations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7178040" y="505663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leadership to do next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10652760" y="4617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Retailer. Four Years. A World of Data.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sells Technology, Furniture and Office Supplies across 147 countries. Leadership had transaction-level data but no unified way to see performance, spot the products worth doubling down on, or know which customers and regions deserved more attention.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363931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6301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87552" y="356616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company making money — and where is it not?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1970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" y="413308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and categories should we invest in?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773168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7640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87552" y="4700016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and markets drive the most value?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40880" y="1600200"/>
            <a:ext cx="4526280" cy="4434840"/>
          </a:xfrm>
          <a:prstGeom prst="roundRect">
            <a:avLst>
              <a:gd name="adj" fmla="val 2062"/>
            </a:avLst>
          </a:prstGeom>
          <a:solidFill>
            <a:srgbClr val="141B4D"/>
          </a:solidFill>
          <a:ln/>
        </p:spPr>
      </p:sp>
      <p:sp>
        <p:nvSpPr>
          <p:cNvPr id="16" name="Text 14"/>
          <p:cNvSpPr/>
          <p:nvPr/>
        </p:nvSpPr>
        <p:spPr>
          <a:xfrm>
            <a:off x="745236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SCALE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5236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51,290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281160" y="240487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Transactions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52360" y="2990088"/>
            <a:ext cx="3749040" cy="0"/>
          </a:xfrm>
          <a:prstGeom prst="line">
            <a:avLst/>
          </a:prstGeom>
          <a:noFill/>
          <a:ln w="9525">
            <a:solidFill>
              <a:srgbClr val="3B43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30906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10,292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281160" y="316382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52360" y="3749040"/>
            <a:ext cx="3749040" cy="0"/>
          </a:xfrm>
          <a:prstGeom prst="line">
            <a:avLst/>
          </a:prstGeom>
          <a:noFill/>
          <a:ln w="9525">
            <a:solidFill>
              <a:srgbClr val="3B438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38496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1,590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281160" y="392277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52360" y="4507992"/>
            <a:ext cx="3749040" cy="0"/>
          </a:xfrm>
          <a:prstGeom prst="line">
            <a:avLst/>
          </a:prstGeom>
          <a:noFill/>
          <a:ln w="9525">
            <a:solidFill>
              <a:srgbClr val="3B438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460857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147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281160" y="46817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Served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452360" y="5266944"/>
            <a:ext cx="3749040" cy="0"/>
          </a:xfrm>
          <a:prstGeom prst="line">
            <a:avLst/>
          </a:prstGeom>
          <a:noFill/>
          <a:ln w="9525">
            <a:solidFill>
              <a:srgbClr val="3B438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52360" y="53675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yrs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281160" y="5440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– 2014 History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Data Warehouse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Global Superstore export was cleaned in Python (pandas), split into conformed dimension tables, and re-linked through surrogate keys — turning a single flat file into an analysis-ready star schema.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EEF3FD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29535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581" y="3074213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5387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CSV Export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3840480"/>
            <a:ext cx="1691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Global_Superstore_Cleaned.csv — one flat table, one row per order line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474595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891790" y="278892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EEF3FD"/>
          </a:solidFill>
          <a:ln/>
        </p:spPr>
      </p:sp>
      <p:sp>
        <p:nvSpPr>
          <p:cNvPr id="12" name="Shape 9"/>
          <p:cNvSpPr/>
          <p:nvPr/>
        </p:nvSpPr>
        <p:spPr>
          <a:xfrm>
            <a:off x="3577590" y="29535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listu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8291" y="3074213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83230" y="35387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De-duplicate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983230" y="3840480"/>
            <a:ext cx="1691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standardize types, drop duplicate product / customer / location rows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726305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143500" y="278892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EEF3FD"/>
          </a:solidFill>
          <a:ln/>
        </p:spPr>
      </p:sp>
      <p:sp>
        <p:nvSpPr>
          <p:cNvPr id="18" name="Shape 14"/>
          <p:cNvSpPr/>
          <p:nvPr/>
        </p:nvSpPr>
        <p:spPr>
          <a:xfrm>
            <a:off x="5829300" y="29535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icons/cub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0001" y="3074213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34940" y="35387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Dimensions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234940" y="3840480"/>
            <a:ext cx="1691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Dim_Product, Dim_Customer, Dim_Location, Dim_Date — each with a surrogate key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978015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7395210" y="278892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EEF3FD"/>
          </a:solidFill>
          <a:ln/>
        </p:spPr>
      </p:sp>
      <p:sp>
        <p:nvSpPr>
          <p:cNvPr id="24" name="Shape 19"/>
          <p:cNvSpPr/>
          <p:nvPr/>
        </p:nvSpPr>
        <p:spPr>
          <a:xfrm>
            <a:off x="8081010" y="29535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/home/claude/icons/exch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1711" y="3074213"/>
            <a:ext cx="261518" cy="26151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86650" y="35387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Assemble Fact Table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486650" y="3840480"/>
            <a:ext cx="1691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Fact_Sales: Sales, Quantity, Discount, Profit, Shipping Cost + foreign keys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9229725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3"/>
          <p:cNvSpPr/>
          <p:nvPr/>
        </p:nvSpPr>
        <p:spPr>
          <a:xfrm>
            <a:off x="9646920" y="278892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30" name="Shape 24"/>
          <p:cNvSpPr/>
          <p:nvPr/>
        </p:nvSpPr>
        <p:spPr>
          <a:xfrm>
            <a:off x="10332720" y="2953512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1" name="Image 4" descr="/home/claude/icons/chartb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3421" y="3074213"/>
            <a:ext cx="261518" cy="26151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738360" y="35387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Model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9738360" y="3840480"/>
            <a:ext cx="1691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the warehouse and modeled in Power BI for DAX &amp; dashboards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— One Fact, Four Dimensions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0" y="34747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9AA5C7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0" y="36210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Fact_Sales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4114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• Quantity • Discount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• Shipping Cost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45537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51,290 rows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8562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0" descr="/home/claude/icons/box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965960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81965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Dim_Product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280160" y="21305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10,292 products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" y="253288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• Sub-Category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834640" y="2308860"/>
            <a:ext cx="1920240" cy="1197864"/>
          </a:xfrm>
          <a:prstGeom prst="line">
            <a:avLst/>
          </a:prstGeom>
          <a:noFill/>
          <a:ln w="19050">
            <a:solidFill>
              <a:srgbClr val="B7C2E4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502920" y="50749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/>
        </p:spPr>
      </p:sp>
      <p:sp>
        <p:nvSpPr>
          <p:cNvPr id="16" name="Shape 13"/>
          <p:cNvSpPr/>
          <p:nvPr/>
        </p:nvSpPr>
        <p:spPr>
          <a:xfrm>
            <a:off x="685800" y="5239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1" descr="/home/claude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5349240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80160" y="520293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Dim_Customer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1280160" y="55138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1,590 customers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85800" y="591616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 flipV="1">
            <a:off x="2834640" y="4777740"/>
            <a:ext cx="1920240" cy="914400"/>
          </a:xfrm>
          <a:prstGeom prst="line">
            <a:avLst/>
          </a:prstGeom>
          <a:noFill/>
          <a:ln w="19050">
            <a:solidFill>
              <a:srgbClr val="B7C2E4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9372600" y="16916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/>
        </p:spPr>
      </p:sp>
      <p:sp>
        <p:nvSpPr>
          <p:cNvPr id="23" name="Shape 19"/>
          <p:cNvSpPr/>
          <p:nvPr/>
        </p:nvSpPr>
        <p:spPr>
          <a:xfrm>
            <a:off x="9555480" y="18562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2" descr="/home/claude/icons/mapmark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5208" y="1965960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149840" y="181965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Dim_Location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10149840" y="21305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3,819 locations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9555480" y="253288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• Market • Region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 flipV="1">
            <a:off x="7402286" y="2487168"/>
            <a:ext cx="1970314" cy="1056132"/>
          </a:xfrm>
          <a:prstGeom prst="line">
            <a:avLst/>
          </a:prstGeom>
          <a:noFill/>
          <a:ln w="19050">
            <a:solidFill>
              <a:srgbClr val="B7C2E4"/>
            </a:solidFill>
            <a:prstDash val="dash"/>
          </a:ln>
        </p:spPr>
      </p:sp>
      <p:sp>
        <p:nvSpPr>
          <p:cNvPr id="29" name="Shape 24"/>
          <p:cNvSpPr/>
          <p:nvPr/>
        </p:nvSpPr>
        <p:spPr>
          <a:xfrm>
            <a:off x="9372600" y="50749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EEF3FD"/>
          </a:solidFill>
          <a:ln/>
        </p:spPr>
      </p:sp>
      <p:sp>
        <p:nvSpPr>
          <p:cNvPr id="30" name="Shape 25"/>
          <p:cNvSpPr/>
          <p:nvPr/>
        </p:nvSpPr>
        <p:spPr>
          <a:xfrm>
            <a:off x="9555480" y="5239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3" descr="/home/claude/icons/fla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5208" y="5349240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149840" y="520293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Dim_Date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10149840" y="55138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1,430 dates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9555480" y="591616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Year • Month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7406640" y="4663440"/>
            <a:ext cx="1965960" cy="923544"/>
          </a:xfrm>
          <a:prstGeom prst="line">
            <a:avLst/>
          </a:prstGeom>
          <a:noFill/>
          <a:ln w="19050">
            <a:solidFill>
              <a:srgbClr val="B7C2E4"/>
            </a:solidFill>
            <a:prstDash val="dash"/>
          </a:ln>
        </p:spPr>
      </p:sp>
      <p:sp>
        <p:nvSpPr>
          <p:cNvPr id="36" name="Text 3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E6448D-53B3-7DC1-66E3-0629ADE44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81" y="232916"/>
            <a:ext cx="11374437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202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8DB18A-1BDC-C057-EF70-A8B6382C1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5" y="209100"/>
            <a:ext cx="11422069" cy="643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72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page for leadership to gauge overall health — revenue, profit, order volume and average sale, filterable by Region, Market, Segment and Year.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68296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$12.64M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77240" y="2999232"/>
            <a:ext cx="2240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0712" y="21488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25400" dir="5400000" algn="bl" rotWithShape="0">
              <a:srgbClr val="9AA5C7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7872" y="2368296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$1.47M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547872" y="2999232"/>
            <a:ext cx="2240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81344" y="21488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25400" dir="5400000" algn="bl" rotWithShape="0">
              <a:srgbClr val="9AA5C7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18504" y="2368296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25,035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318504" y="2999232"/>
            <a:ext cx="2240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51976" y="21488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25400" dir="5400000" algn="bl" rotWithShape="0">
              <a:srgbClr val="9AA5C7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89136" y="2368296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$246.49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9089136" y="2999232"/>
            <a:ext cx="2240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30682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19709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is the strongest market at $3.59M in sales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76402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65429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 segment drives 51% of total revenue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22122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511149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every year from 2011 to 2014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67842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556869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discounting is linked to lower profit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040880" y="3886200"/>
            <a:ext cx="4526280" cy="2148840"/>
          </a:xfrm>
          <a:prstGeom prst="roundRect">
            <a:avLst>
              <a:gd name="adj" fmla="val 4255"/>
            </a:avLst>
          </a:prstGeom>
          <a:solidFill>
            <a:srgbClr val="EEF3FD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0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0" descr="/home/claude/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842" y="4225442"/>
            <a:ext cx="281635" cy="281635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955280" y="4160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Filters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7315200" y="4754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 •  Market  •  Segment  •  Order Year (2011–2014)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315200" y="51663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KPI, chart and ranking on this page recalculates live as leadership slices by any of these four filters.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Revenue Comes From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554480"/>
          <a:ext cx="64922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54480"/>
            <a:ext cx="4160520" cy="2148840"/>
          </a:xfrm>
          <a:prstGeom prst="roundRect">
            <a:avLst>
              <a:gd name="adj" fmla="val 4255"/>
            </a:avLst>
          </a:prstGeom>
          <a:solidFill>
            <a:srgbClr val="EEF3FD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1755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SEGMENT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80960" y="2148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235440" y="2148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$6.51M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195560" y="2148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80960" y="26334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35440" y="26334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$3.82M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195560" y="26334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30.2%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80960" y="31181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235440" y="311810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$2.31M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195560" y="311810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18.3%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406640" y="3886200"/>
            <a:ext cx="4160520" cy="2148840"/>
          </a:xfrm>
          <a:prstGeom prst="roundRect">
            <a:avLst>
              <a:gd name="adj" fmla="val 4255"/>
            </a:avLst>
          </a:prstGeom>
          <a:solidFill>
            <a:srgbClr val="141B4D"/>
          </a:solidFill>
          <a:ln/>
        </p:spPr>
      </p:sp>
      <p:sp>
        <p:nvSpPr>
          <p:cNvPr id="17" name="Text 14"/>
          <p:cNvSpPr/>
          <p:nvPr/>
        </p:nvSpPr>
        <p:spPr>
          <a:xfrm>
            <a:off x="7680960" y="4087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SALES TREND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80960" y="4480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778240" y="4480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$2.26M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0149840" y="4572000"/>
            <a:ext cx="744917" cy="1280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1" name="Text 18"/>
          <p:cNvSpPr/>
          <p:nvPr/>
        </p:nvSpPr>
        <p:spPr>
          <a:xfrm>
            <a:off x="7680960" y="48646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778240" y="48646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$2.68M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0149840" y="4956048"/>
            <a:ext cx="883353" cy="1280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1"/>
          <p:cNvSpPr/>
          <p:nvPr/>
        </p:nvSpPr>
        <p:spPr>
          <a:xfrm>
            <a:off x="7680960" y="52486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778240" y="52486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$3.41M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10149840" y="5340096"/>
            <a:ext cx="1123968" cy="1280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7" name="Text 24"/>
          <p:cNvSpPr/>
          <p:nvPr/>
        </p:nvSpPr>
        <p:spPr>
          <a:xfrm>
            <a:off x="7680960" y="563270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778240" y="56327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$4.30M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0149840" y="5724144"/>
            <a:ext cx="1417320" cy="1280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1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831B7B-1433-4DF8-8B77-3CC2BC048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92" y="232916"/>
            <a:ext cx="11403016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299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category-owner's view of the catalog — which products sell, which categories are most profitable, and where quantity and profit diverge.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25400" dir="5400000" algn="bl" rotWithShape="0">
              <a:srgbClr val="9AA5C7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68296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10,292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77240" y="2999232"/>
            <a:ext cx="2240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0712" y="21488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2368296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547872" y="2999232"/>
            <a:ext cx="2240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81344" y="21488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25400" dir="5400000" algn="bl" rotWithShape="0">
              <a:srgbClr val="9AA5C7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18504" y="2368296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178,312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318504" y="2999232"/>
            <a:ext cx="2240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51976" y="21488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25400" dir="5400000" algn="bl" rotWithShape="0">
              <a:srgbClr val="9AA5C7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89136" y="2368296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$12.64M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9089136" y="2999232"/>
            <a:ext cx="2240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30682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19709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leads in both sales and profit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76402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65429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sells the most units, at thinner margins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22122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511149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dominate the top-selling product list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67842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556869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shows the widest sales-to-profit gap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040880" y="3886200"/>
            <a:ext cx="4526280" cy="2148840"/>
          </a:xfrm>
          <a:prstGeom prst="roundRect">
            <a:avLst>
              <a:gd name="adj" fmla="val 4255"/>
            </a:avLst>
          </a:prstGeom>
          <a:solidFill>
            <a:srgbClr val="EEF3FD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0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0" descr="/home/claude/icons/box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842" y="4225442"/>
            <a:ext cx="281635" cy="281635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955280" y="4160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Filters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7315200" y="4754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 •  Sub-Category  •  Product Name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315200" y="51663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owners drill from a 3-category view down to a single SKU without leaving the page.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vs. Profit by Category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554480"/>
          <a:ext cx="64922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54480"/>
            <a:ext cx="4160520" cy="4480560"/>
          </a:xfrm>
          <a:prstGeom prst="roundRect">
            <a:avLst>
              <a:gd name="adj" fmla="val 2198"/>
            </a:avLst>
          </a:prstGeom>
          <a:solidFill>
            <a:srgbClr val="EEF3FD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SCORECARD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8096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8096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37.5% of total sales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68096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35,176 units   •   $663.8K profit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680960" y="3172968"/>
            <a:ext cx="3566160" cy="0"/>
          </a:xfrm>
          <a:prstGeom prst="line">
            <a:avLst/>
          </a:prstGeom>
          <a:noFill/>
          <a:ln w="9525">
            <a:solidFill>
              <a:srgbClr val="D6DC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Furniture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680960" y="3703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32.5% of total sales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680960" y="3977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34,954 units   •   $285.2K profit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680960" y="4407408"/>
            <a:ext cx="3566160" cy="0"/>
          </a:xfrm>
          <a:prstGeom prst="line">
            <a:avLst/>
          </a:prstGeom>
          <a:noFill/>
          <a:ln w="9525">
            <a:solidFill>
              <a:srgbClr val="D6DC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0" y="4617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 Supplies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680960" y="4937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30.0% of total sales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80960" y="5212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108,182 units   •   $518.5K profit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E88207-F162-BC78-8C88-83990D7F3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28" y="218627"/>
            <a:ext cx="11412543" cy="642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767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Geographic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of the customer base — how many customers, where they are, and which ones and which places generate the most value.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25400" dir="5400000" algn="bl" rotWithShape="0">
              <a:srgbClr val="9AA5C7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68296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1,590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77240" y="2999232"/>
            <a:ext cx="2240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0712" y="21488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25400" dir="5400000" algn="bl" rotWithShape="0">
              <a:srgbClr val="9AA5C7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7872" y="2368296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147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547872" y="2999232"/>
            <a:ext cx="2240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81344" y="21488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8504" y="2368296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3,636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318504" y="2999232"/>
            <a:ext cx="2240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51976" y="21488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25400" dir="5400000" algn="bl" rotWithShape="0">
              <a:srgbClr val="9AA5C7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89136" y="2368296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9089136" y="2999232"/>
            <a:ext cx="2240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30682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19709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States leads all countries in sales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76402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65429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region posts the strongest sales performance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22122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511149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Raymond Buch and Tamara Chand top the profit ranking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67842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556869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of customers drives outsized revenue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040880" y="3886200"/>
            <a:ext cx="4526280" cy="2148840"/>
          </a:xfrm>
          <a:prstGeom prst="roundRect">
            <a:avLst>
              <a:gd name="adj" fmla="val 4255"/>
            </a:avLst>
          </a:prstGeom>
          <a:solidFill>
            <a:srgbClr val="EEF3FD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0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0" descr="/home/claude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842" y="4225442"/>
            <a:ext cx="281635" cy="281635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955280" y="4160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Filters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7315200" y="4754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 •  Region  •  Segment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315200" y="51663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managers can isolate their own territory and benchmark it against company-wide performance.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Performance Concentrates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554480"/>
          <a:ext cx="64922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54480"/>
            <a:ext cx="4160520" cy="4480560"/>
          </a:xfrm>
          <a:prstGeom prst="roundRect">
            <a:avLst>
              <a:gd name="adj" fmla="val 2198"/>
            </a:avLst>
          </a:prstGeom>
          <a:solidFill>
            <a:srgbClr val="141B4D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COUNTRIES BY SALES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80960" y="2240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104120" y="2240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$2.30M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80960" y="2788920"/>
            <a:ext cx="3566160" cy="0"/>
          </a:xfrm>
          <a:prstGeom prst="line">
            <a:avLst/>
          </a:prstGeom>
          <a:noFill/>
          <a:ln w="9525">
            <a:solidFill>
              <a:srgbClr val="3B438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0" y="28986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104120" y="28986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$0.93M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680960" y="3447288"/>
            <a:ext cx="3566160" cy="0"/>
          </a:xfrm>
          <a:prstGeom prst="line">
            <a:avLst/>
          </a:prstGeom>
          <a:noFill/>
          <a:ln w="9525">
            <a:solidFill>
              <a:srgbClr val="3B438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0" y="355701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104120" y="355701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$0.86M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680960" y="4105656"/>
            <a:ext cx="3566160" cy="0"/>
          </a:xfrm>
          <a:prstGeom prst="line">
            <a:avLst/>
          </a:prstGeom>
          <a:noFill/>
          <a:ln w="9525">
            <a:solidFill>
              <a:srgbClr val="3B438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0" y="42153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104120" y="421538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$0.70M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680960" y="4764024"/>
            <a:ext cx="3566160" cy="0"/>
          </a:xfrm>
          <a:prstGeom prst="line">
            <a:avLst/>
          </a:prstGeom>
          <a:noFill/>
          <a:ln w="9525">
            <a:solidFill>
              <a:srgbClr val="3B438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0" y="48737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104120" y="48737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$0.63M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Three Dashboards Add Up 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EEF3FD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" y="20967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43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Core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14400" y="32004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APAC, the Consumer segment and the US market are already strong — keep investment and coverage steady where performance is proven.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16916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EEF3FD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boxop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639" y="20967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2743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Margins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754880" y="32004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and Office Supplies sell well but convert less into profit. Review pricing, discounting and cost-to-serve on these lines.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21040" y="16916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EEF3FD"/>
          </a:solidFill>
          <a:ln/>
        </p:spPr>
      </p:sp>
      <p:sp>
        <p:nvSpPr>
          <p:cNvPr id="15" name="Shape 11"/>
          <p:cNvSpPr/>
          <p:nvPr/>
        </p:nvSpPr>
        <p:spPr>
          <a:xfrm>
            <a:off x="859536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6119" y="20967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2743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Deliberately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595360" y="32004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Central region's success as a playbook, and apply it to under-performing regions before shifting more budget their way.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5074920"/>
            <a:ext cx="10927080" cy="1051560"/>
          </a:xfrm>
          <a:prstGeom prst="roundRect">
            <a:avLst>
              <a:gd name="adj" fmla="val 8696"/>
            </a:avLst>
          </a:prstGeom>
          <a:solidFill>
            <a:srgbClr val="141B4D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5312664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1" name="Image 3" descr="/home/claude/icons/light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836" y="5437388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2120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three dashboards move leadership from “what happened” to “what to do next” — with the same numbers everyone can trust.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25400" dir="5400000" algn="bl" rotWithShape="0">
              <a:srgbClr val="9AA5C7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2103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679" y="22338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718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&amp; pandas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de-duplication and star-schema construction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02152" y="178308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25400" dir="5400000" algn="bl" rotWithShape="0">
              <a:srgbClr val="9AA5C7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7992" y="2103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8751" y="22338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29718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85032" y="356616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queries powering every KPI and ranking shown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64224" y="178308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25400" dir="5400000" algn="bl" rotWithShape="0">
              <a:srgbClr val="9AA5C7">
                <a:alpha val="2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7370064" y="2103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chart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823" y="22338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29718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547104" y="356616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modeling, measures and the three interactive dashboards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26296" y="178308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blurRad="76200" dist="25400" dir="5400000" algn="bl" rotWithShape="0">
              <a:srgbClr val="9AA5C7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232136" y="2103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projectdiagr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2895" y="223387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63456" y="29718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Design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409176" y="356616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 linked to four conformed dimension tables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09728" cy="109728"/>
          </a:xfrm>
          <a:prstGeom prst="ellipse">
            <a:avLst/>
          </a:prstGeom>
          <a:solidFill>
            <a:srgbClr val="D4AF3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548640"/>
            <a:ext cx="109728" cy="109728"/>
          </a:xfrm>
          <a:prstGeom prst="ellipse">
            <a:avLst/>
          </a:prstGeom>
          <a:solidFill>
            <a:srgbClr val="D4AF37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54480" y="548640"/>
            <a:ext cx="109728" cy="109728"/>
          </a:xfrm>
          <a:prstGeom prst="ellipse">
            <a:avLst/>
          </a:prstGeom>
          <a:solidFill>
            <a:srgbClr val="D4AF37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05840"/>
            <a:ext cx="109728" cy="109728"/>
          </a:xfrm>
          <a:prstGeom prst="ellipse">
            <a:avLst/>
          </a:prstGeom>
          <a:solidFill>
            <a:srgbClr val="D4AF37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005840"/>
            <a:ext cx="109728" cy="109728"/>
          </a:xfrm>
          <a:prstGeom prst="ellipse">
            <a:avLst/>
          </a:prstGeom>
          <a:solidFill>
            <a:srgbClr val="D4AF37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1005840"/>
            <a:ext cx="109728" cy="109728"/>
          </a:xfrm>
          <a:prstGeom prst="ellipse">
            <a:avLst/>
          </a:prstGeom>
          <a:solidFill>
            <a:srgbClr val="D4AF37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349240" y="1737360"/>
            <a:ext cx="868680" cy="86868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9" name="Image 0" descr="/home/claude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693" y="1932813"/>
            <a:ext cx="477774" cy="4777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2788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5166360" y="4343400"/>
            <a:ext cx="18288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Analytics  —  Data Warehouse &amp; Power BI Dashboards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49560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3A394D-605A-F557-4609-2CE14EA8EFF0}"/>
              </a:ext>
            </a:extLst>
          </p:cNvPr>
          <p:cNvSpPr txBox="1"/>
          <p:nvPr/>
        </p:nvSpPr>
        <p:spPr>
          <a:xfrm>
            <a:off x="1959429" y="4983480"/>
            <a:ext cx="85953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Osama Medhat , Adham Mohamed , Nada Mostafa ,Habiba Hany</a:t>
            </a:r>
          </a:p>
          <a:p>
            <a:r>
              <a:rPr lang="en-US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Dr. </a:t>
            </a:r>
            <a:r>
              <a:rPr lang="en-US" sz="20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Safwat                                                      Eng. Dina Mohsen 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1092</Words>
  <Application>Microsoft Office PowerPoint</Application>
  <PresentationFormat>Widescreen</PresentationFormat>
  <Paragraphs>237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Osama Medhat</cp:lastModifiedBy>
  <cp:revision>2</cp:revision>
  <dcterms:created xsi:type="dcterms:W3CDTF">2026-08-21T19:14:38Z</dcterms:created>
  <dcterms:modified xsi:type="dcterms:W3CDTF">2026-08-23T06:10:05Z</dcterms:modified>
</cp:coreProperties>
</file>